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1F-4D5D-B4FD-8A999FF51968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1F-4D5D-B4FD-8A999FF51968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1F-4D5D-B4FD-8A999FF519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10324</c:v>
                </c:pt>
                <c:pt idx="1">
                  <c:v>19374</c:v>
                </c:pt>
                <c:pt idx="2">
                  <c:v>10336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1F-4D5D-B4FD-8A999FF519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AvgPlayTime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AE-4B21-9BC4-ED26C8C99B1B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AE-4B21-9BC4-ED26C8C99B1B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AE-4B21-9BC4-ED26C8C99B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4.0999999999999996</c:v>
                </c:pt>
                <c:pt idx="1">
                  <c:v>7.5</c:v>
                </c:pt>
                <c:pt idx="2">
                  <c:v>11.8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AE-4B21-9BC4-ED26C8C99B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Features</c:v>
                </c:pt>
              </c:strCache>
            </c:strRef>
          </c:tx>
          <c:spPr>
            <a:solidFill>
              <a:srgbClr val="1A6F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SVM</c:v>
                </c:pt>
                <c:pt idx="2">
                  <c:v>KNN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</c:v>
                </c:pt>
                <c:pt idx="1">
                  <c:v>0.89</c:v>
                </c:pt>
                <c:pt idx="2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F4-4660-A4D6-5BFCECA4C5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PCA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SVM</c:v>
                </c:pt>
                <c:pt idx="2">
                  <c:v>KNN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0.89</c:v>
                </c:pt>
                <c:pt idx="1">
                  <c:v>0.9</c:v>
                </c:pt>
                <c:pt idx="2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F4-4660-A4D6-5BFCECA4C5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LDA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SVM</c:v>
                </c:pt>
                <c:pt idx="2">
                  <c:v>KNN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0.92</c:v>
                </c:pt>
                <c:pt idx="1">
                  <c:v>0.93</c:v>
                </c:pt>
                <c:pt idx="2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F4-4660-A4D6-5BFCECA4C5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60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640080"/>
            <a:ext cx="1645920" cy="1005840"/>
          </a:xfrm>
          <a:prstGeom prst="roundRect">
            <a:avLst>
              <a:gd name="adj" fmla="val 22727"/>
            </a:avLst>
          </a:prstGeom>
          <a:solidFill>
            <a:srgbClr val="1E3A5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35240" y="731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&amp; Artificial Intelligence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Gaming Behavior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Project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5029200" cy="36576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Wafaa Samy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Zienab Moustafa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154680"/>
            <a:ext cx="850392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A6F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" y="3547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Ashraf Mohammed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547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2300125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Mustafa Fayez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2300171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242816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Hamam Mohamed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4206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2300074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358444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55464" y="3547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Gamal Thabet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52360" y="3547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2300587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91363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55464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Emad Fathy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2300150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" cy="86868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 records · 12 features · 3-class target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502920" cy="86868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" y="2148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3134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· Correlations · Insights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3522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35224"/>
            <a:ext cx="502920" cy="86868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1752" y="3136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2980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3009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· Scaling · Train/Test Split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92277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922776"/>
            <a:ext cx="502920" cy="86868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" y="41239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" y="3968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4288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(Chi² + ANOVA) · Wrapper (RFE) · Embedded (Lasso + RF)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960120"/>
            <a:ext cx="502920" cy="86868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36592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76088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LDA · Comparison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947672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1947672"/>
            <a:ext cx="502920" cy="86868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2148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76088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76088" y="23134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SVM · KNN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93522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2935224"/>
            <a:ext cx="502920" cy="86868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36592" y="3136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276088" y="2980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76088" y="33009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CV · Confusion Matrix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92277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3922776"/>
            <a:ext cx="502920" cy="86868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36592" y="41239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276088" y="3968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GUI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76088" y="4288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dashboard &amp; prediction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64008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40,034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201168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26864" y="914400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26864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03136" y="91440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03136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03136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Descriptions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4297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7340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0" y="27340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035808"/>
            <a:ext cx="42976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30723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3072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374136"/>
            <a:ext cx="4297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4107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60320" y="3410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region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712464"/>
            <a:ext cx="42976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37490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GameGenre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0" y="3749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Action/RPG/Strategy...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050792"/>
            <a:ext cx="4297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" y="4087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PlayTimeHours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60320" y="4087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play 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389120"/>
            <a:ext cx="42976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44256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InGamePurchases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60320" y="4425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purchases? 0/1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697480"/>
            <a:ext cx="4297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28032" y="27340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GameDifficulty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40880" y="27340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Easy/Medium/Hard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035808"/>
            <a:ext cx="42976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28032" y="30723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SessionsPerWeek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40880" y="3072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sessions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374136"/>
            <a:ext cx="4297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34107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AvgSessionDurationMinutes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40880" y="3410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length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3712464"/>
            <a:ext cx="42976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28032" y="37490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PlayerLevel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040880" y="3749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4050792"/>
            <a:ext cx="4297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28032" y="4087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AchievementsUnlocked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040880" y="4087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count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54880" y="4389120"/>
            <a:ext cx="4297680" cy="301752"/>
          </a:xfrm>
          <a:prstGeom prst="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28032" y="44256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EngagementLevel ★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040880" y="4425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Exploratory Data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PlayTime by Level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846320" y="123444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74320" y="4041648"/>
            <a:ext cx="85953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11480" y="405993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Medium engagement dominates (48.4%) — class imbalance is mild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4320" y="4297680"/>
            <a:ext cx="859536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11480" y="43159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Higher engagement strongly correlates with more play hours &amp; sessions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4553712"/>
            <a:ext cx="85953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11480" y="45720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PlayerLevel &amp; Achievements are top predictors of engagement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4809744"/>
            <a:ext cx="859536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No missing values — dataset is clean and ready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24912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69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Player ID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non-informative identifier column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103120"/>
            <a:ext cx="2505456" cy="4114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21396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PlayerID has no predictive value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2112" y="96012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82112" y="960120"/>
            <a:ext cx="2724912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069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76472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Target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91840" y="15087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EngagementLevel → {Low:0, Medium:1, High:2}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103120"/>
            <a:ext cx="2505456" cy="4114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46704" y="21396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Explicit ordinal encoding preserves class order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9904" y="96012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9904" y="960120"/>
            <a:ext cx="2724912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9632" y="1069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84264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99632" y="15087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Gender, Location, GameGenre, GameDifficulty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9632" y="2103120"/>
            <a:ext cx="2505456" cy="4114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54496" y="21396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drop_first=True to avoid multicollinearity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2880360"/>
            <a:ext cx="2724912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2990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8680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048" y="34290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— 20% Test  |  stratify=y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4023360"/>
            <a:ext cx="2505456" cy="4114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8912" y="4059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Stratification preserves class balance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82112" y="288036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82112" y="2880360"/>
            <a:ext cx="2724912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2990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776472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91840" y="34290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 on train only → transform() on both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0" y="4023360"/>
            <a:ext cx="2505456" cy="4114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46704" y="4059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Prevents Data Leakage ✅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9904" y="288036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9904" y="2880360"/>
            <a:ext cx="2724912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99632" y="2990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684264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199632" y="34290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version for Chi² Filter method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99632" y="4023360"/>
            <a:ext cx="2505456" cy="4114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54496" y="4059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Chi² requires non-negative feature values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Feature Selection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2491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24912" cy="9144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5156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 + ANOVA F-test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709928"/>
            <a:ext cx="2505456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911096"/>
            <a:ext cx="146304" cy="146304"/>
          </a:xfrm>
          <a:prstGeom prst="ellipse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8470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Model-independent statistical tests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59736"/>
            <a:ext cx="146304" cy="146304"/>
          </a:xfrm>
          <a:prstGeom prst="ellipse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3957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Chi²: tests feature independence from 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008376"/>
            <a:ext cx="146304" cy="146304"/>
          </a:xfrm>
          <a:prstGeom prst="ellipse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9443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compares means across classes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57016"/>
            <a:ext cx="146304" cy="146304"/>
          </a:xfrm>
          <a:prstGeom prst="ellipse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4930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features above mean 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82112" y="914400"/>
            <a:ext cx="272491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82112" y="914400"/>
            <a:ext cx="2724912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05156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Method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138988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 Elimination (RFE)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1709928"/>
            <a:ext cx="2505456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19272" y="191109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29584" y="18470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Random Forest as base estimator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9272" y="245973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9584" y="23957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removes weakest features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9272" y="300837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9584" y="29443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top 8 features (step=1)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9272" y="355701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29584" y="34930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— model-dependent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9904" y="914400"/>
            <a:ext cx="272491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9904" y="914400"/>
            <a:ext cx="2724912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99632" y="105156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Method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9632" y="138988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+ RF Importance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99632" y="1709928"/>
            <a:ext cx="2505456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27064" y="191109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37376" y="18470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happens during model training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27064" y="245973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37376" y="23957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Lasso: zero-out irrelevant coefficients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27064" y="300837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37376" y="29443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Gini-based feature importance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27064" y="355701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37376" y="34930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of both for robustness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" y="455371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Consensus: Features selected by ≥ 2 methods are kept — combining all three approaches for maximum reliability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Feature Extraction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9144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09728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2070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36576" cy="201168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features into Principal Components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36576" cy="201168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194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PC captures maximum remaining variance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36576" cy="201168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578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Feature Selection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36576" cy="201168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962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components: retain 95% variance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36576" cy="201168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346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dimensionality without label info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36576" cy="201168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730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n_components uncorrelated axes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411480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1024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9204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Discriminant Analysis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1188720"/>
            <a:ext cx="10515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56048" y="1207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37760" y="1810512"/>
            <a:ext cx="36576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7492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class labels to find discriminants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2194560"/>
            <a:ext cx="36576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2194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between-class separation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2578608"/>
            <a:ext cx="36576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2578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within-class scatter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2962656"/>
            <a:ext cx="36576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74920" y="2962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components = n_classes − 1 = 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37760" y="3346704"/>
            <a:ext cx="36576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74920" y="3346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class separability than PCA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37760" y="3730752"/>
            <a:ext cx="36576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74920" y="3730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LD1 &amp; LD2 discriminant axes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06240" y="2377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Dimension Reduction — Full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325880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encoding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508760"/>
            <a:ext cx="274320" cy="36576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417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Filter+Wrapper+Embedded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1325880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143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0" y="17190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2148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≥2 votes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0680" y="1508760"/>
            <a:ext cx="2743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0" y="1417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132588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1143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26480" y="17190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2148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retained: 95%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589520" y="100584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89520" y="1005840"/>
            <a:ext cx="132588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89520" y="1143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589520" y="17190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0" y="2148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(n_classes−1)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3035808"/>
            <a:ext cx="17373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0" y="3035808"/>
            <a:ext cx="12801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057400" y="3054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3035808"/>
            <a:ext cx="12801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37560" y="3054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3035808"/>
            <a:ext cx="12801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17720" y="3054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52160" y="3035808"/>
            <a:ext cx="109728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97880" y="3054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49440" y="3035808"/>
            <a:ext cx="109728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95160" y="3054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3383280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0040" y="34015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11680" y="3383280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057400" y="34015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3383280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37560" y="34015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Slow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0" y="3383280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52160" y="338328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897880" y="340156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49440" y="338328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95160" y="340156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3694176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371246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Labels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011680" y="3694176"/>
            <a:ext cx="12801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057400" y="37124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91840" y="3694176"/>
            <a:ext cx="12801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337560" y="37124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0" y="3694176"/>
            <a:ext cx="12801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617720" y="37124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852160" y="3694176"/>
            <a:ext cx="10972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97880" y="37124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49440" y="3694176"/>
            <a:ext cx="10972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995160" y="37124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4005072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20040" y="40233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011680" y="4005072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057400" y="40233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91840" y="4005072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337560" y="40233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72000" y="4005072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617720" y="40233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852160" y="4005072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897880" y="4023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Medium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949440" y="4005072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995160" y="4023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Medium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74320" y="4315968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20040" y="433425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Components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011680" y="4315968"/>
            <a:ext cx="12801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057400" y="433425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291840" y="4315968"/>
            <a:ext cx="12801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337560" y="433425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72000" y="4315968"/>
            <a:ext cx="12801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617720" y="433425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852160" y="4315968"/>
            <a:ext cx="10972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897880" y="433425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949440" y="4315968"/>
            <a:ext cx="10972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995160" y="433425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74320" y="4626864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20040" y="46451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Separability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011680" y="4626864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0574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291840" y="4626864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33756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572000" y="4626864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61772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5852160" y="4626864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5897880" y="46451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949440" y="4626864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6995160" y="46451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Machine Learning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24912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1280160" cy="237744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4996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/ Bagging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8745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194560"/>
            <a:ext cx="250545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= 200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514600"/>
            <a:ext cx="250545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4203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15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834640"/>
            <a:ext cx="250545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86207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 = 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200400"/>
            <a:ext cx="2505456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29184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584448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non-linearity naturally. Built-in feature importance. Robust to outliers. Strong baseline for tabular data.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82112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82112" y="914400"/>
            <a:ext cx="2724912" cy="9144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7355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30752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73552" y="1481328"/>
            <a:ext cx="1280160" cy="237744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00984" y="14996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18745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194560"/>
            <a:ext cx="250545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64992" y="222199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RBF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2514600"/>
            <a:ext cx="250545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64992" y="254203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2834640"/>
            <a:ext cx="250545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64992" y="286207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 = scale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200400"/>
            <a:ext cx="2505456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329184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91840" y="3584448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on high-dimensional data post-PCA/LDA. Finds optimal hyperplane. Works well with scaled features.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9904" y="914400"/>
            <a:ext cx="272491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9904" y="914400"/>
            <a:ext cx="2724912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81344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638544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81344" y="1481328"/>
            <a:ext cx="1280160" cy="237744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08776" y="14996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Learning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99632" y="18745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99632" y="2194560"/>
            <a:ext cx="250545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72784" y="222199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n_neighbors = 7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99632" y="2514600"/>
            <a:ext cx="250545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72784" y="254203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 = distance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99632" y="2834640"/>
            <a:ext cx="250545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72784" y="286207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= minkowski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99632" y="3200400"/>
            <a:ext cx="2505456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99632" y="329184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model?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99632" y="3584448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non-parametric baseline. Distance-weighted voting. Effective after scaling and dimension reduction.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4956048"/>
            <a:ext cx="8595360" cy="109728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77316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trained on 3 feature spaces: Selected Features · PCA · LDA  →  9 experiments total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Results &amp; Evaluation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Results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89320" y="1298448"/>
            <a:ext cx="1051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35040" y="1325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086600" y="1298448"/>
            <a:ext cx="1051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32320" y="1325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183880" y="1298448"/>
            <a:ext cx="7772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0" y="13258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1645920"/>
            <a:ext cx="1051560" cy="283464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35040" y="16642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086600" y="1645920"/>
            <a:ext cx="1051560" cy="283464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32320" y="16642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83880" y="1645920"/>
            <a:ext cx="777240" cy="283464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0" y="166420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1956816"/>
            <a:ext cx="105156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35040" y="19751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86600" y="1956816"/>
            <a:ext cx="105156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132320" y="19751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183880" y="1956816"/>
            <a:ext cx="77724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29600" y="19751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89320" y="226771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03504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086600" y="226771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183880" y="2267712"/>
            <a:ext cx="777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229600" y="22860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989320" y="2578608"/>
            <a:ext cx="105156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035040" y="25968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086600" y="2578608"/>
            <a:ext cx="105156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132320" y="25968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183880" y="2578608"/>
            <a:ext cx="77724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229600" y="25968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989320" y="2889504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035040" y="29077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086600" y="2889504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132320" y="29077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183880" y="2889504"/>
            <a:ext cx="777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229600" y="29077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989320" y="3246120"/>
            <a:ext cx="2971800" cy="777240"/>
          </a:xfrm>
          <a:prstGeom prst="rect">
            <a:avLst/>
          </a:prstGeom>
          <a:solidFill>
            <a:srgbClr val="EBF8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080760" y="327355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
</a:t>
            </a:r>
            <a:r>
              <a:rPr lang="en-US" sz="950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models on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spaces for robustness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274320" y="4023360"/>
            <a:ext cx="1691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274320" y="4023360"/>
            <a:ext cx="169164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274320" y="4114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274320" y="4480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103120" y="4023360"/>
            <a:ext cx="1691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2103120" y="4023360"/>
            <a:ext cx="1691640" cy="64008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2103120" y="4114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2000" dirty="0"/>
          </a:p>
        </p:txBody>
      </p:sp>
      <p:sp>
        <p:nvSpPr>
          <p:cNvPr id="51" name="Text 48"/>
          <p:cNvSpPr/>
          <p:nvPr/>
        </p:nvSpPr>
        <p:spPr>
          <a:xfrm>
            <a:off x="2103120" y="4480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931920" y="4023360"/>
            <a:ext cx="1691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3931920" y="4023360"/>
            <a:ext cx="169164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931920" y="4114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2000" dirty="0"/>
          </a:p>
        </p:txBody>
      </p:sp>
      <p:sp>
        <p:nvSpPr>
          <p:cNvPr id="55" name="Text 52"/>
          <p:cNvSpPr/>
          <p:nvPr/>
        </p:nvSpPr>
        <p:spPr>
          <a:xfrm>
            <a:off x="3931920" y="4480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411480" y="4846320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Best: SVM + LDA = 93% Accuracy  |  LDA proves most effective — maximizes class separability for 3-class problem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Streamlit GUI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247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490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 &amp; best results summary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36592" y="96012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36592" y="960120"/>
            <a:ext cx="4251960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1247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490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distributions, genre &amp; correlation charts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258568"/>
            <a:ext cx="4251960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" y="2441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788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Wrapper · Embedded + consensus heatmap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36592" y="2258568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6592" y="2258568"/>
            <a:ext cx="4251960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24231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2441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788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scree plot · LDA scatter · PCA vs LDA comparison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557016"/>
            <a:ext cx="4251960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7216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1248" y="37398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087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chart · classification report · confusion matrices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3557016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36592" y="3557016"/>
            <a:ext cx="4251960" cy="73152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37216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03520" y="37398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087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player engagement prediction from sliders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8371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streamlit run app.py  →  http://localhost:8501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0" y="548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🎮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788920"/>
            <a:ext cx="4572000" cy="36576"/>
          </a:xfrm>
          <a:prstGeom prst="rect">
            <a:avLst/>
          </a:prstGeom>
          <a:solidFill>
            <a:srgbClr val="1A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Ashraf Mohammed · 2300125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369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Mustafa Fayez · 2300171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Hamam Mohamed · 2300074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Gamal Thabet · 2300587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Emad Fathy · 2300150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Wafaa Samy  ·  TA: Zienab Moustafa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1017</Words>
  <Application>Microsoft Office PowerPoint</Application>
  <PresentationFormat>On-screen Show (16:9)</PresentationFormat>
  <Paragraphs>306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Gaming Behavior — ML Classification Project</dc:title>
  <dc:subject>PptxGenJS Presentation</dc:subject>
  <dc:creator>PptxGenJS</dc:creator>
  <cp:lastModifiedBy>Ahmed Hamam Mohamed Mahmoud</cp:lastModifiedBy>
  <cp:revision>2</cp:revision>
  <dcterms:created xsi:type="dcterms:W3CDTF">2026-04-30T08:41:34Z</dcterms:created>
  <dcterms:modified xsi:type="dcterms:W3CDTF">2026-05-01T12:30:34Z</dcterms:modified>
</cp:coreProperties>
</file>